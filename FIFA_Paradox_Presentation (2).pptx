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3017520" cy="4297680"/>
          </a:xfrm>
          <a:prstGeom prst="rect">
            <a:avLst/>
          </a:prstGeom>
          <a:solidFill>
            <a:srgbClr val="122244">
              <a:alpha val="60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731520"/>
            <a:ext cx="2468880" cy="3749040"/>
          </a:xfrm>
          <a:prstGeom prst="rect">
            <a:avLst/>
          </a:prstGeom>
          <a:solidFill>
            <a:srgbClr val="122244">
              <a:alpha val="40000"/>
            </a:srgbClr>
          </a:solidFill>
          <a:ln w="6350">
            <a:solidFill>
              <a:srgbClr val="F0C04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RESEARCH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the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FIFA Paradox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Markovian Framework for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Soccer Player Rating Reconstruction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097280"/>
            <a:ext cx="2377440" cy="868680"/>
          </a:xfrm>
          <a:prstGeom prst="rect">
            <a:avLst/>
          </a:prstGeom>
          <a:solidFill>
            <a:srgbClr val="0B1A33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Chain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2377440" cy="868680"/>
          </a:xfrm>
          <a:prstGeom prst="rect">
            <a:avLst/>
          </a:prstGeom>
          <a:solidFill>
            <a:srgbClr val="0B1A33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Open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200400"/>
            <a:ext cx="2377440" cy="868680"/>
          </a:xfrm>
          <a:prstGeom prst="rect">
            <a:avLst/>
          </a:prstGeom>
          <a:solidFill>
            <a:srgbClr val="0B1A33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36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VAEP + xT Synthesis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goalscorer bias through evidence-based spatial modeling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548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FIFA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PARADOX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8600" y="2651760"/>
            <a:ext cx="10972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834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systemic over-valuation of terminal output — goals and assists — at the expense of structural actions that create them.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749040" y="320040"/>
            <a:ext cx="51663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49040" y="320040"/>
            <a:ext cx="82296" cy="2148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457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PLAYMAKER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7498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Aymeric Laporte Case Study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051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Laporte's 2019 line-breaking through-ball bypassed the midfield block and directly enabled a goal. Under standard xG/xA frameworks, he received zero statistical credit — the archetypal "invisible" contribution.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457200"/>
            <a:ext cx="7772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57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697480"/>
            <a:ext cx="51663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2697480"/>
            <a:ext cx="82296" cy="214884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GOALSCORER BIAS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31272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 Sports PPI Critique (Dr. Bill Gerrard)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77640" y="3429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regression's sensitivity to terminal actions (shots, saves) yields wrong signs or statistically insignificant estimates for structural actions — resulting in skewed rankings that favor forwards over defensive architects.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2244"/>
          </a:solidFill>
          <a:ln w="12700">
            <a:solidFill>
              <a:srgbClr val="1222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Markovian State-Value Modeling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737360" cy="914400"/>
          </a:xfrm>
          <a:prstGeom prst="ellipse">
            <a:avLst/>
          </a:prstGeom>
          <a:solidFill>
            <a:srgbClr val="122244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9968" y="1664208"/>
            <a:ext cx="548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52704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737360" cy="914400"/>
          </a:xfrm>
          <a:prstGeom prst="ellipse">
            <a:avLst/>
          </a:prstGeom>
          <a:solidFill>
            <a:srgbClr val="1A8A7A"/>
          </a:solidFill>
          <a:ln w="25400">
            <a:solidFill>
              <a:srgbClr val="2EC4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Sᵢ₋₁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3172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Laporte pass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87368" y="1664208"/>
            <a:ext cx="548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52704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1737360" cy="914400"/>
          </a:xfrm>
          <a:prstGeom prst="ellipse">
            <a:avLst/>
          </a:prstGeom>
          <a:solidFill>
            <a:srgbClr val="122244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 carry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73368" y="1664208"/>
            <a:ext cx="5486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52704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234440"/>
            <a:ext cx="1737360" cy="9144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280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Sᵢ₊₁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028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U(aᵢ) = V(Sᵢ) − V(Sᵢ₋₁)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40280" y="2633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assigned here!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4114800" cy="1828800"/>
          </a:xfrm>
          <a:prstGeom prst="rect">
            <a:avLst/>
          </a:prstGeom>
          <a:solidFill>
            <a:srgbClr val="122244"/>
          </a:solidFill>
          <a:ln w="19050">
            <a:solidFill>
              <a:srgbClr val="1A8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127248"/>
            <a:ext cx="1188720" cy="256032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POSSESSION-BASED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3438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xT — Expected Threat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Ball-progression model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069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future xG by grid location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offensive play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3063240"/>
            <a:ext cx="4114800" cy="1828800"/>
          </a:xfrm>
          <a:prstGeom prst="rect">
            <a:avLst/>
          </a:prstGeom>
          <a:solidFill>
            <a:srgbClr val="122244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3127248"/>
            <a:ext cx="11887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ALL-ACTION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3438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VAEP — Valuing Actions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07492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defensive contributions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74920" y="4069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P(concede) explicitly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74920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risk-reward tradeoffs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74920" y="4526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synthesis framework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Reconstructed Rating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WEIGHTING SCHEME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Mixed-Methods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0116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3383280" cy="182880"/>
          </a:xfrm>
          <a:prstGeom prst="rect">
            <a:avLst/>
          </a:prstGeom>
          <a:solidFill>
            <a:srgbClr val="D8E0E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76856"/>
            <a:ext cx="2435962" cy="18288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243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243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3383280" cy="182880"/>
          </a:xfrm>
          <a:prstGeom prst="rect">
            <a:avLst/>
          </a:prstGeom>
          <a:solidFill>
            <a:srgbClr val="D8E0E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9504"/>
            <a:ext cx="2435962" cy="18288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369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2369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3383280" cy="182880"/>
          </a:xfrm>
          <a:prstGeom prst="rect">
            <a:avLst/>
          </a:prstGeom>
          <a:solidFill>
            <a:srgbClr val="D8E0E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02152"/>
            <a:ext cx="1217981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962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8496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383280" cy="182880"/>
          </a:xfrm>
          <a:prstGeom prst="rect">
            <a:avLst/>
          </a:prstGeom>
          <a:solidFill>
            <a:srgbClr val="D8E0EC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608990" cy="182880"/>
          </a:xfrm>
          <a:prstGeom prst="rect">
            <a:avLst/>
          </a:prstGeom>
          <a:solidFill>
            <a:srgbClr val="8DA0C0"/>
          </a:solidFill>
          <a:ln w="12700">
            <a:solidFill>
              <a:srgbClr val="8DA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343400"/>
            <a:ext cx="3566160" cy="2286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Chances Denied = xT(Location_recovery) × Possession_Adj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109728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097280"/>
            <a:ext cx="82296" cy="1097280"/>
          </a:xfrm>
          <a:prstGeom prst="rect">
            <a:avLst/>
          </a:prstGeom>
          <a:solidFill>
            <a:srgbClr val="1A8A7A"/>
          </a:solidFill>
          <a:ln w="12700">
            <a:solidFill>
              <a:srgbClr val="1A8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Consistency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15270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to the Mean analysis guards against "hot streak" inflation. Model prioritizes high-volume, low-variance actions — passes and structural recoveries.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350008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350008"/>
            <a:ext cx="82296" cy="10972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Validity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277977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cross-validated on Allsvenskan &amp; Premier League data. Test: do aggregate ratings better predict future league points than goal-based metrics?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602736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02736"/>
            <a:ext cx="82296" cy="109728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03520" y="3694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Validation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03250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'Look Test' — model must surface players who defy conventional wisdom. E.g. Mark Schwarzer (2008/09): top match-contribution index via defensive stability alone.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640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Paradox — Giving Invisible Playmakers and Defensive Anchors the mathematical credit they deserve.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the FIFA Paradox</dc:title>
  <dc:subject>PptxGenJS Presentation</dc:subject>
  <dc:creator>PptxGenJS</dc:creator>
  <cp:lastModifiedBy>PptxGenJS</cp:lastModifiedBy>
  <cp:revision>1</cp:revision>
  <dcterms:created xsi:type="dcterms:W3CDTF">2026-03-15T16:35:34Z</dcterms:created>
  <dcterms:modified xsi:type="dcterms:W3CDTF">2026-03-15T16:35:34Z</dcterms:modified>
</cp:coreProperties>
</file>